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85750"/>
            <a:ext cx="9418309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51980" y="1734145"/>
            <a:ext cx="604004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AI-Powered Risk Platform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1551980" y="2673548"/>
            <a:ext cx="604004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Engineering &amp; Implementation Plan — 3-Month Roadmap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551980" y="3236119"/>
            <a:ext cx="60400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Netevia Risk &amp; Technology Division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0" y="4720233"/>
            <a:ext cx="91440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Version 4.0 · May 2026 · Internal —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Manual, reactive risk workflows expose Netevia to financial loss, card brand penalties, and partner attrition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394427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5838" y="1380139"/>
            <a:ext cx="63245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Overnight Vulnerability: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Transactions go unreviewed until business hours — holds are missed, 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fraud accumulates.</a:t>
            </a:r>
            <a:endParaRPr lang="en-US" sz="1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3" y="2037364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28700" y="2023077"/>
            <a:ext cx="628172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Communication Gaps: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Merchants and ISOs receive no notification when holds are placed, 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generating inbound call volume and partner friction.</a:t>
            </a:r>
            <a:endParaRPr lang="en-US" sz="10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2680302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85838" y="2666014"/>
            <a:ext cx="63245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False Positives: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Flags on legitimate merchants (construction, government, high-ticket) damage 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relationships and revenue.</a:t>
            </a:r>
            <a:endParaRPr lang="en-US" sz="10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3" y="3323239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85838" y="3308952"/>
            <a:ext cx="63245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Unquantified Exposure: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Chargeback tracking inaccuracies and ACH reject blind spots create 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unquantified loss exposure.</a:t>
            </a:r>
            <a:endParaRPr lang="en-US" sz="105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3" y="3966177"/>
            <a:ext cx="171450" cy="17145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85838" y="3951889"/>
            <a:ext cx="63245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Compliance Risk: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No systematic card brand compliance tracking — VAMP, VIRP, and ECP </a:t>
            </a:r>
            <a:r>
              <a:rPr lang="en-US" sz="10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breaches can result in fines exceeding $25,000/month.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Three autonomous capabilities eliminate the operational gap and protect Netevia at every level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451577"/>
            <a:ext cx="2571750" cy="295809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451577"/>
            <a:ext cx="2571750" cy="28575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764116"/>
            <a:ext cx="357188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938" y="2226673"/>
            <a:ext cx="2143125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1. Autonomous AI Agent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2938" y="2592428"/>
            <a:ext cx="2143125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Runs nightly at 5 AM, reviews all overnight activity, executes holds via TSYS/wc3270, and delivers a prioritized morning briefing to the Risk team by 7:30 AM. No schedule change required.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286125" y="1451577"/>
            <a:ext cx="2571750" cy="295809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3286125" y="1451577"/>
            <a:ext cx="2571750" cy="28575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438" y="1764116"/>
            <a:ext cx="285750" cy="2857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00438" y="2226673"/>
            <a:ext cx="21431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2. Automated Notification Engine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500438" y="2815307"/>
            <a:ext cx="2143125" cy="109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The instant any hold is applied, the system simultaneously notifies Merchant, ISO Office, and Agent with hold reason, timeline, required docs, and a secure upload link. Zero manual steps.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6143625" y="1451577"/>
            <a:ext cx="2571750" cy="295809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6143625" y="1451577"/>
            <a:ext cx="2571750" cy="28575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38" y="1764116"/>
            <a:ext cx="285750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57938" y="2226673"/>
            <a:ext cx="214312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3. Self-Correcting ML Feedback Loop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357938" y="2815307"/>
            <a:ext cx="2143125" cy="128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When the AI identifies a false positive, it automatically releases the hold, recalibrates the rule threshold, annotates the merchant account, writes a tamper-evident audit log entry, and feeds the correction back into the training dataset.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 decoupled microservices architecture bridges legacy mainframe operations with modern ML infrastructure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308702"/>
            <a:ext cx="2071688" cy="394692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Subsystem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500313" y="1308702"/>
            <a:ext cx="2486025" cy="394692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Stack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86338" y="1308702"/>
            <a:ext cx="3729038" cy="394692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Function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8625" y="1703394"/>
            <a:ext cx="2071688" cy="36254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Ingestion Pipeline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00313" y="1703394"/>
            <a:ext cx="2486025" cy="36254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REST API / SFTP + Apache Kafka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986338" y="1703394"/>
            <a:ext cx="3729038" cy="362545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Real-time auth/capture logs + overnight TSYS Mreports batches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28625" y="2065939"/>
            <a:ext cx="2071688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Dynamic Rules Engine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00313" y="2065939"/>
            <a:ext cx="2486025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 (FastAPI) + Redis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986338" y="2065939"/>
            <a:ext cx="3729038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Sub-second hierarchical rule evaluation across Portfolio → Merchant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28625" y="2562430"/>
            <a:ext cx="207168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Mainframe Automation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500313" y="2562430"/>
            <a:ext cx="2486025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wc3270 / Py3270 Python Wrapper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86338" y="2562430"/>
            <a:ext cx="372903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Programmatic hold/release execution on TSYS green screen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28625" y="2921403"/>
            <a:ext cx="2071688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&amp; AI Layer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00313" y="2921403"/>
            <a:ext cx="2486025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 (XGBoost) + LLM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986338" y="2921403"/>
            <a:ext cx="3729038" cy="4964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Context-aware transaction scoring + false positive self-correction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28625" y="3417894"/>
            <a:ext cx="207168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Agent Orchestration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500313" y="3417894"/>
            <a:ext cx="2486025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Apache Airflow / Temporal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86338" y="3417894"/>
            <a:ext cx="372903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Nightly 5 AM agent scheduling, coordination, and reporting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8625" y="3776867"/>
            <a:ext cx="207168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Notification Gateway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500313" y="3776867"/>
            <a:ext cx="2486025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SendGrid / Twilio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986338" y="3776867"/>
            <a:ext cx="372903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Automated Email + SMS alerts to Merchant, ISO, Agent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28625" y="4135841"/>
            <a:ext cx="207168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Persistent Storage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500313" y="4135841"/>
            <a:ext cx="2486025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PostgreSQL + Elasticsearch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986338" y="4135841"/>
            <a:ext cx="372903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Case management, config, and high-speed audit log querying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28625" y="4494814"/>
            <a:ext cx="207168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Presentation Layer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2500313" y="4494814"/>
            <a:ext cx="2486025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React / TypeScript (RBAC)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986338" y="4494814"/>
            <a:ext cx="3729038" cy="3589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dashboards, ISO Partner Portal, Executive views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2971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Six engineering objectives define the full scope of the platform build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082976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28625" y="108297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57250" y="1082976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TSYS / Mreports Data Integration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7250" y="1340151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Real-time and batch ingestion pipelines normalizing auth, capture, and settlement data across the full Portfolio → Merchant hierarchy.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786313" y="1082976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86313" y="108297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4938" y="1082976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wc3270 Green Screen Automation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14938" y="1340151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Headless Py3270 service eliminating all manual mainframe intervention for holds and releases.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28625" y="2140251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8625" y="214025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7250" y="2140251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Hierarchical Dynamic Rules Engine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57250" y="2397426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Editable thresholds at Portfolio, MCC, ISO Office, Agent, and Merchant levels with full audit trail on every rule change.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86313" y="2140251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86313" y="214025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214938" y="2140251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ML-Driven Anomaly Detection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214938" y="2397426"/>
            <a:ext cx="35004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XGBoost models trained on 90-day behavioral baselines, reducing false positives without adding friction to legitimate merchants.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28625" y="3197526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8625" y="319752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57250" y="3197526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Autonomous AI Agent (24/7 Coverage)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57250" y="3454701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Scheduled orchestration agent delivering overnight review and morning briefing with no schedule change required.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86313" y="3197526"/>
            <a:ext cx="285750" cy="285750"/>
          </a:xfrm>
          <a:prstGeom prst="rect">
            <a:avLst/>
          </a:prstGeom>
          <a:solidFill>
            <a:srgbClr val="2196F3">
              <a:alpha val="10000"/>
            </a:srgbClr>
          </a:solidFill>
          <a:ln w="9144">
            <a:solidFill>
              <a:srgbClr val="2196F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86313" y="319752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214938" y="3197526"/>
            <a:ext cx="35004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Card Brand Compliance Monitoring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214938" y="3454701"/>
            <a:ext cx="3500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Dedicated subsystem tracking VAMP, VIRP, ECP, BRAM with internal thresholds set 30–40% below official network limits.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Phase 1 delivers the foundational infrastructure and first four critical detection flags in 4 weeks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80139"/>
            <a:ext cx="3929063" cy="358739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80139"/>
            <a:ext cx="3929063" cy="28575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83748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2981" y="1665889"/>
            <a:ext cx="281463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1–2 — Infrastructure Sprint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130233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35831" y="2087370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TSYS/Mreports ingestion pipeline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(REST API +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SFTP) configured with data normalization schema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20262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5831" y="2677399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wc3270 Py3270 emulation service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built —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programmatic hold/release execution live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310291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35831" y="3267428"/>
            <a:ext cx="313610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agent fully architected: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data inputs, decision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logic, notification triggers, false-positive loop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documented</a:t>
            </a:r>
            <a:endParaRPr lang="en-US" sz="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106038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35831" y="4063175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Urgency-based triage matrix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deployed (replaces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call-order processing)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786313" y="1380139"/>
            <a:ext cx="3929063" cy="355881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9"/>
          <p:cNvSpPr/>
          <p:nvPr/>
        </p:nvSpPr>
        <p:spPr>
          <a:xfrm>
            <a:off x="4786313" y="1380139"/>
            <a:ext cx="3929063" cy="28575"/>
          </a:xfrm>
          <a:prstGeom prst="rect">
            <a:avLst/>
          </a:prstGeom>
          <a:solidFill>
            <a:srgbClr val="2196F3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1683748"/>
            <a:ext cx="214313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393531" y="1665889"/>
            <a:ext cx="271998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3–4 — Core Engine Sprint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2130233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93519" y="2087370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Dynamic rules engine framework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live — UI for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creating/editing rules at all 5 hierarchy levels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2720262"/>
            <a:ext cx="114300" cy="1143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93519" y="2677399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OOP Flags 1–4 (Critical):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Duplicate BIN,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Auth/Capture Gap, Duplicate Auths, High Velocity</a:t>
            </a:r>
            <a:endParaRPr lang="en-US" sz="9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2063" y="3310291"/>
            <a:ext cx="114300" cy="1143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93519" y="3267428"/>
            <a:ext cx="313610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hold execution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connected to wc3270 + 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simultaneous Merchant/ISO/Agent notifications</a:t>
            </a:r>
            <a:endParaRPr lang="en-US" sz="9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2063" y="3900320"/>
            <a:ext cx="114300" cy="1143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293519" y="3857458"/>
            <a:ext cx="24003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ISO ACH reject notification</a:t>
            </a: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pipeline live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06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Phase 2 expands detection coverage to 10 flags and begins active AI agent development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08702"/>
            <a:ext cx="4000500" cy="387191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08702"/>
            <a:ext cx="4000500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68017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7263" y="1558733"/>
            <a:ext cx="3221831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5–6: Detection Expansion Sprint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2187383"/>
            <a:ext cx="114300" cy="1143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0113" y="2144520"/>
            <a:ext cx="32789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OOP Flags 5–10 (High severity):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90-day behavioral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baselines for Dollar Clusters, Large Anomalies,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AVS/CVV Spikes, Device Fingerprinting, Unmatched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Credits, BIN+Auth Correlation.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073208"/>
            <a:ext cx="114300" cy="1143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00113" y="3030345"/>
            <a:ext cx="32789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Underwriting ↔ Risk Alignment: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Industry-specific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thresholds for construction, government, high-ticket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merchants embedded in rules.</a:t>
            </a:r>
            <a:endParaRPr lang="en-US" sz="9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3766152"/>
            <a:ext cx="114300" cy="1143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00113" y="3723289"/>
            <a:ext cx="3278981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Document Deduplication Rule: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Prevents re-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requesting docs submitted at underwriting within 6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months.</a:t>
            </a:r>
            <a:endParaRPr lang="en-US" sz="9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4459095"/>
            <a:ext cx="114300" cy="1143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00113" y="4416233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Agent Core Logic: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Active development and build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begins.</a:t>
            </a:r>
            <a:endParaRPr lang="en-US" sz="950" dirty="0"/>
          </a:p>
        </p:txBody>
      </p:sp>
      <p:sp>
        <p:nvSpPr>
          <p:cNvPr id="16" name="Shape 8"/>
          <p:cNvSpPr/>
          <p:nvPr/>
        </p:nvSpPr>
        <p:spPr>
          <a:xfrm>
            <a:off x="4714875" y="1308702"/>
            <a:ext cx="4000500" cy="3857625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9"/>
          <p:cNvSpPr/>
          <p:nvPr/>
        </p:nvSpPr>
        <p:spPr>
          <a:xfrm>
            <a:off x="4714875" y="1308702"/>
            <a:ext cx="4000500" cy="14288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4906" y="1576592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43513" y="1558733"/>
            <a:ext cx="288786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7–8: Integration &amp; QA Sprint</a:t>
            </a:r>
            <a:endParaRPr lang="en-US" sz="12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4906" y="1980214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186363" y="1937352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Agent Integration Testing: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Testing against live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TSYS data feeds.</a:t>
            </a:r>
            <a:endParaRPr lang="en-US" sz="9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4906" y="2480277"/>
            <a:ext cx="114300" cy="1143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186363" y="2437414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ACH Update SLA Enforcement: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3-business-day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maximum enforced.</a:t>
            </a:r>
            <a:endParaRPr lang="en-US" sz="9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4906" y="2980339"/>
            <a:ext cx="114300" cy="1143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186363" y="2937477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Root Cause Requirement: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Enforced before any fund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release.</a:t>
            </a:r>
            <a:endParaRPr lang="en-US" sz="950" dirty="0"/>
          </a:p>
        </p:txBody>
      </p:sp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4906" y="3480402"/>
            <a:ext cx="114300" cy="1143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186363" y="3437539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Chargeback Tracking: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Accuracy audit and fix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deployed.</a:t>
            </a:r>
            <a:endParaRPr lang="en-US" sz="95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4906" y="3980464"/>
            <a:ext cx="114300" cy="11430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5186363" y="3937602"/>
            <a:ext cx="327898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Green Screen Migration: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Migration plan documented </a:t>
            </a:r>
            <a:r>
              <a:rPr lang="en-US" sz="9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and finalized.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Phase 3 ships the production AI engine, partner portals, and card brand compliance monitoring — full go-live Week 12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80139"/>
            <a:ext cx="4000500" cy="348185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80139"/>
            <a:ext cx="4000500" cy="2857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3"/>
          <p:cNvSpPr/>
          <p:nvPr/>
        </p:nvSpPr>
        <p:spPr>
          <a:xfrm>
            <a:off x="642938" y="1665889"/>
            <a:ext cx="357187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9–10 — ML &amp; Agent Production Launch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2318817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4394" y="2290242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Autonomous AI Agent live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5 AM nightly run, wc3270 holds 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executed, prioritized briefing delivered by 7:30 AM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2804592"/>
            <a:ext cx="114300" cy="1143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394" y="2776017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transaction scoring engine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deployed with self-correcting 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false positive feedback loop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290367"/>
            <a:ext cx="114300" cy="1143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4394" y="3261792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OOP Flags 11–15 (Medium):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Proxy/VPN/TOR, Host Capture 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Voids, BIN Concentration, Same Billing Address clusters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3776142"/>
            <a:ext cx="114300" cy="1143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4394" y="3747567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Force Post monitoring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+ Deposit Spike detection (150% of 30-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day trailing average)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4261917"/>
            <a:ext cx="114300" cy="1143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64394" y="4233342"/>
            <a:ext cx="2807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VAMP/ECP/VIRP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compliance monitoring module live</a:t>
            </a:r>
            <a:endParaRPr lang="en-US" sz="850" dirty="0"/>
          </a:p>
        </p:txBody>
      </p:sp>
      <p:sp>
        <p:nvSpPr>
          <p:cNvPr id="17" name="Shape 9"/>
          <p:cNvSpPr/>
          <p:nvPr/>
        </p:nvSpPr>
        <p:spPr>
          <a:xfrm>
            <a:off x="4714875" y="1380139"/>
            <a:ext cx="4000500" cy="3453278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8" name="Shape 10"/>
          <p:cNvSpPr/>
          <p:nvPr/>
        </p:nvSpPr>
        <p:spPr>
          <a:xfrm>
            <a:off x="4714875" y="1380139"/>
            <a:ext cx="4000500" cy="28575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1"/>
          <p:cNvSpPr/>
          <p:nvPr/>
        </p:nvSpPr>
        <p:spPr>
          <a:xfrm>
            <a:off x="4929188" y="1665889"/>
            <a:ext cx="3571875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Weeks 11–12 — Go-Live Sprint (Code Freeze Week 11)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9188" y="2318817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50644" y="2290242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ISO Partner Portal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real-time hold status, reserve balances, 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chargeback data</a:t>
            </a:r>
            <a:endParaRPr lang="en-US" sz="8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9188" y="2804592"/>
            <a:ext cx="114300" cy="1143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50644" y="2776017"/>
            <a:ext cx="33504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Executive Profitability Dashboard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risk exposure vs. 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revenue per account</a:t>
            </a:r>
            <a:endParaRPr lang="en-US" sz="8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9188" y="3290367"/>
            <a:ext cx="114300" cy="1143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50644" y="3261792"/>
            <a:ext cx="319504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Rolling reserve &amp; loss reporting</a:t>
            </a: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replacing estimated figures</a:t>
            </a:r>
            <a:endParaRPr lang="en-US" sz="8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29188" y="3604692"/>
            <a:ext cx="114300" cy="1143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50644" y="3576117"/>
            <a:ext cx="16448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UAT → Full production go-live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The AI Agent eliminates the overnight coverage gap without requiring any change to the Risk team's schedule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08702"/>
            <a:ext cx="4036219" cy="77331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08702"/>
            <a:ext cx="28575" cy="773311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24787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1550" y="1394427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Trigger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971550" y="1610525"/>
            <a:ext cx="33504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Scheduled nightly at 5:00 AM via Apache Airflow / Temporal orchestration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4679156" y="1308702"/>
            <a:ext cx="4036219" cy="773311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308702"/>
            <a:ext cx="28575" cy="773311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424787"/>
            <a:ext cx="150019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22081" y="1394427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222081" y="1610525"/>
            <a:ext cx="33504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Overnight TSYS Mreports batch · ACH reject feed · Active OOP flag queue · Open case backlog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28625" y="2224887"/>
            <a:ext cx="4036219" cy="11590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428625" y="2224887"/>
            <a:ext cx="28575" cy="1159073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40973"/>
            <a:ext cx="214313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71550" y="2310612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Functions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71550" y="2526711"/>
            <a:ext cx="33504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Ingest overnight data → Evaluate accounts against rules engine → Apply holds for Critical flags → Queue High-severity cases for analyst review → Generate morning briefing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679156" y="2224887"/>
            <a:ext cx="4036219" cy="96619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2224887"/>
            <a:ext cx="28575" cy="966192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340973"/>
            <a:ext cx="171450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22081" y="2310612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Output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222081" y="2526711"/>
            <a:ext cx="33504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Prioritized case queue delivered to Risk team inbox by 7:30 AM — sorted Critical / High / Medium with recommended actions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28625" y="3526836"/>
            <a:ext cx="4036219" cy="115907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428625" y="3526836"/>
            <a:ext cx="28575" cy="1159073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42922"/>
            <a:ext cx="150019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71550" y="3612561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Notification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971550" y="3828659"/>
            <a:ext cx="335041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Every hold applied by the agent immediately fires the notification pipeline — Merchant, ISO, and Agent notified with hold reason, timeline, and secure upload link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679156" y="3526836"/>
            <a:ext cx="4036219" cy="96619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2"/>
          <p:cNvSpPr/>
          <p:nvPr/>
        </p:nvSpPr>
        <p:spPr>
          <a:xfrm>
            <a:off x="4679156" y="3526836"/>
            <a:ext cx="28575" cy="966192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3642922"/>
            <a:ext cx="171450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22081" y="3612561"/>
            <a:ext cx="335041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Frictionless Design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5222081" y="3828659"/>
            <a:ext cx="33504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Holds applied only when ML confidence thresholds are met; borderline cases surfaced for human review, never auto-actioned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When the AI identifies a false positive, it corrects itself automatically — no human intervention required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08702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08702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41585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2969" y="1415858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Detection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2969" y="1628384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Transaction scored against merchant behavioral baseline, underwriting profile, and MCC norms.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28625" y="2199884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199884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2307041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2969" y="2307041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False Positive Determination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2969" y="2519567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Confidence score falls below hold threshold OR contextual signals (industry, tenure, UW-approved limits) override the raw flag.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28625" y="3091067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3091067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198223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92969" y="3198223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Hold Prevention / Release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92969" y="3410750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If hold was applied, wc3270 release command issued automatically; if in-flight, no hold applied.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28625" y="3982250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28625" y="3982250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4089406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92969" y="4089406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Parameter Adjustment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92969" y="4301933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Triggering rule threshold dynamically recalibrated for this merchant/MCC/hierarchy level within defined safety bounds.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86313" y="1308702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1308702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6" name="Text 23"/>
          <p:cNvSpPr/>
          <p:nvPr/>
        </p:nvSpPr>
        <p:spPr>
          <a:xfrm>
            <a:off x="4929188" y="141585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50656" y="1415858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Account Annotation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250656" y="1628384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Structured note written to merchant record: flag type, false positive rationale, parameter delta, timestamp.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786313" y="2199884"/>
            <a:ext cx="3929063" cy="909042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4786313" y="2199884"/>
            <a:ext cx="28575" cy="90904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1" name="Text 28"/>
          <p:cNvSpPr/>
          <p:nvPr/>
        </p:nvSpPr>
        <p:spPr>
          <a:xfrm>
            <a:off x="4929188" y="2307041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250656" y="2307041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Audit Log Entry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250656" y="2519567"/>
            <a:ext cx="335756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Tamper-evident entry: transaction ID, original flag, AI confidence score, false positive rationale, parameter delta, hold status change, system identity.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786313" y="3251802"/>
            <a:ext cx="3929063" cy="74830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786313" y="3251802"/>
            <a:ext cx="28575" cy="748308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6" name="Text 33"/>
          <p:cNvSpPr/>
          <p:nvPr/>
        </p:nvSpPr>
        <p:spPr>
          <a:xfrm>
            <a:off x="4929188" y="3358958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250656" y="3358958"/>
            <a:ext cx="33575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Model Feedback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250656" y="3571484"/>
            <a:ext cx="335756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Corrected event fed back into training dataset; model accuracy improves with every transaction processed.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Internal alert thresholds set 30–40% below official network limits protect Netevia from reporting lag penalties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308702"/>
            <a:ext cx="1491593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Program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20218" y="1308702"/>
            <a:ext cx="994404" cy="53220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Network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914622" y="1308702"/>
            <a:ext cx="1823079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Official Threshold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737702" y="1308702"/>
            <a:ext cx="1491593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Netevia Alert Fires At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29294" y="1308702"/>
            <a:ext cx="2486081" cy="53220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Action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28625" y="1840911"/>
            <a:ext cx="1491593" cy="3536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VAMP (Acquirer)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920218" y="1840911"/>
            <a:ext cx="994404" cy="353616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14622" y="1840911"/>
            <a:ext cx="1823079" cy="3536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&gt;0.5% fraud + disputes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37702" y="1840911"/>
            <a:ext cx="1491593" cy="3536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0.35% portfolio ratio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229294" y="1840911"/>
            <a:ext cx="2486081" cy="35361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Executive alert + ISO throttling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28625" y="2194527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VAMP (Merchant)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920218" y="2194527"/>
            <a:ext cx="994404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14622" y="2194527"/>
            <a:ext cx="182307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&gt;1.5% Standard / &gt;2.2% Excessive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37702" y="2194527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1.0% merchant ratio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229294" y="2194527"/>
            <a:ext cx="2486081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Warning to Merchant &amp; ISO + RDR/CDRN enrollment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28625" y="2673158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VIRP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920218" y="2673158"/>
            <a:ext cx="994404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Visa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914622" y="2673158"/>
            <a:ext cx="182307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Zero tolerance HIR MCCs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37702" y="2673158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Any unapproved MCC drift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229294" y="2673158"/>
            <a:ext cx="2486081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Continuous screening + immediate hold on category drift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28625" y="3151789"/>
            <a:ext cx="1491593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ECP (ECM)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920218" y="3151789"/>
            <a:ext cx="994404" cy="35004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Mastercard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914622" y="3151789"/>
            <a:ext cx="1823079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&gt;1.5% + 100 CBs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737702" y="3151789"/>
            <a:ext cx="1491593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1.0% + 75 CBs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229294" y="3151789"/>
            <a:ext cx="2486081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Mandatory remediation plan + Ethoca Alerts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28625" y="3501833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BRAM / QMAP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920218" y="3501833"/>
            <a:ext cx="994404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Mastercard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2914622" y="3501833"/>
            <a:ext cx="182307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Zero tolerance prohibited activity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37702" y="3501833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behavioral flag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229294" y="3501833"/>
            <a:ext cx="2486081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Fund freeze + immediate manual review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28625" y="3980464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RDR / CDRN / Ethoca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920218" y="3980464"/>
            <a:ext cx="994404" cy="478631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Cross-Network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2914622" y="3980464"/>
            <a:ext cx="1823079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Mitigation tools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737702" y="3980464"/>
            <a:ext cx="1491593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Real-time webhook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229294" y="3980464"/>
            <a:ext cx="2486081" cy="47863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Auto-refund within 24h SLA — excluded from VAMP ratio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52004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17 detection flags deployed across 3 phases cover the full spectrum of transaction risk patterns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28625" y="1091543"/>
            <a:ext cx="207169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#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35794" y="1091543"/>
            <a:ext cx="1118332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Flag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754125" y="1091543"/>
            <a:ext cx="599768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Severity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353894" y="1091543"/>
            <a:ext cx="1475994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Trigger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829887" y="1091543"/>
            <a:ext cx="599238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Phase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28625" y="1363005"/>
            <a:ext cx="207169" cy="28360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635794" y="1363005"/>
            <a:ext cx="1118332" cy="28360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Duplicate BIN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754125" y="1363005"/>
            <a:ext cx="599768" cy="28360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353894" y="1363005"/>
            <a:ext cx="1475994" cy="28360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BIN &gt;3x in 10 min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829887" y="1363005"/>
            <a:ext cx="599238" cy="283601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1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28625" y="1646606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635794" y="1646606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Auth/Capture Gap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1754125" y="1646606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353894" y="1646606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&gt;72h gap or &gt;15% variance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829887" y="1646606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1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28625" y="1926636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35794" y="1926636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Duplicate Auths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754125" y="1926636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2353894" y="1926636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amount/card &gt;2x/hour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3829887" y="1926636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1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428625" y="2206665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5794" y="2206665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 Velocity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754125" y="2206665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2353894" y="2206665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&gt;200% of 30-day avg in 24h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829887" y="2206665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1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428625" y="2486695"/>
            <a:ext cx="207169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635794" y="2486695"/>
            <a:ext cx="1118332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Dollar Clusters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754125" y="2486695"/>
            <a:ext cx="599768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2353894" y="2486695"/>
            <a:ext cx="1475994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&gt;10 txns within $1 of each other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3829887" y="2486695"/>
            <a:ext cx="599238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28625" y="2896735"/>
            <a:ext cx="207169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635794" y="2896735"/>
            <a:ext cx="1118332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Large Anomalies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1754125" y="2896735"/>
            <a:ext cx="599768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2353894" y="2896735"/>
            <a:ext cx="1475994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Single txn &gt;3x merchant avg ticket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3829887" y="2896735"/>
            <a:ext cx="599238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28625" y="3306775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635794" y="3306775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AVS/CVV Spikes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1754125" y="3306775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2353894" y="3306775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&gt;30% mismatch rate in 1 hour</a:t>
            </a:r>
            <a:endParaRPr lang="en-US" sz="650" dirty="0"/>
          </a:p>
        </p:txBody>
      </p:sp>
      <p:sp>
        <p:nvSpPr>
          <p:cNvPr id="43" name="Text 40"/>
          <p:cNvSpPr/>
          <p:nvPr/>
        </p:nvSpPr>
        <p:spPr>
          <a:xfrm>
            <a:off x="3829887" y="3306775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428625" y="3586804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8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635794" y="3586804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Device Fingerprinting</a:t>
            </a:r>
            <a:endParaRPr lang="en-US" sz="650" dirty="0"/>
          </a:p>
        </p:txBody>
      </p:sp>
      <p:sp>
        <p:nvSpPr>
          <p:cNvPr id="46" name="Text 43"/>
          <p:cNvSpPr/>
          <p:nvPr/>
        </p:nvSpPr>
        <p:spPr>
          <a:xfrm>
            <a:off x="1754125" y="3586804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2353894" y="3586804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&gt;5 cards from same device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3829887" y="3586804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428625" y="3866834"/>
            <a:ext cx="207169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9</a:t>
            </a:r>
            <a:endParaRPr lang="en-US" sz="650" dirty="0"/>
          </a:p>
        </p:txBody>
      </p:sp>
      <p:sp>
        <p:nvSpPr>
          <p:cNvPr id="50" name="Text 47"/>
          <p:cNvSpPr/>
          <p:nvPr/>
        </p:nvSpPr>
        <p:spPr>
          <a:xfrm>
            <a:off x="635794" y="3866834"/>
            <a:ext cx="111833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Unmatched Credits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1754125" y="3866834"/>
            <a:ext cx="59976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52" name="Text 49"/>
          <p:cNvSpPr/>
          <p:nvPr/>
        </p:nvSpPr>
        <p:spPr>
          <a:xfrm>
            <a:off x="2353894" y="3866834"/>
            <a:ext cx="1475994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Credits exceed debits &gt;10%</a:t>
            </a:r>
            <a:endParaRPr lang="en-US" sz="650" dirty="0"/>
          </a:p>
        </p:txBody>
      </p:sp>
      <p:sp>
        <p:nvSpPr>
          <p:cNvPr id="53" name="Text 50"/>
          <p:cNvSpPr/>
          <p:nvPr/>
        </p:nvSpPr>
        <p:spPr>
          <a:xfrm>
            <a:off x="3829887" y="3866834"/>
            <a:ext cx="599238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54" name="Text 51"/>
          <p:cNvSpPr/>
          <p:nvPr/>
        </p:nvSpPr>
        <p:spPr>
          <a:xfrm>
            <a:off x="4714875" y="1091543"/>
            <a:ext cx="244673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#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4959548" y="1091543"/>
            <a:ext cx="1111160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Flag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6070709" y="1091543"/>
            <a:ext cx="598122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Severity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6668830" y="1091543"/>
            <a:ext cx="1451883" cy="27146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Trigger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8120714" y="1091543"/>
            <a:ext cx="594661" cy="271463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Phase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4714875" y="1363005"/>
            <a:ext cx="244673" cy="4136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10</a:t>
            </a:r>
            <a:endParaRPr lang="en-US" sz="650" dirty="0"/>
          </a:p>
        </p:txBody>
      </p:sp>
      <p:sp>
        <p:nvSpPr>
          <p:cNvPr id="60" name="Text 57"/>
          <p:cNvSpPr/>
          <p:nvPr/>
        </p:nvSpPr>
        <p:spPr>
          <a:xfrm>
            <a:off x="4959548" y="1363005"/>
            <a:ext cx="1111160" cy="4136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BIN+Auth Correlation</a:t>
            </a:r>
            <a:endParaRPr lang="en-US" sz="650" dirty="0"/>
          </a:p>
        </p:txBody>
      </p:sp>
      <p:sp>
        <p:nvSpPr>
          <p:cNvPr id="61" name="Text 58"/>
          <p:cNvSpPr/>
          <p:nvPr/>
        </p:nvSpPr>
        <p:spPr>
          <a:xfrm>
            <a:off x="6070709" y="1363005"/>
            <a:ext cx="598122" cy="4136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6668830" y="1363005"/>
            <a:ext cx="1451883" cy="4136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Same BIN across &gt;3 merchants</a:t>
            </a:r>
            <a:endParaRPr lang="en-US" sz="650" dirty="0"/>
          </a:p>
        </p:txBody>
      </p:sp>
      <p:sp>
        <p:nvSpPr>
          <p:cNvPr id="63" name="Text 60"/>
          <p:cNvSpPr/>
          <p:nvPr/>
        </p:nvSpPr>
        <p:spPr>
          <a:xfrm>
            <a:off x="8120714" y="1363005"/>
            <a:ext cx="594661" cy="41361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2</a:t>
            </a:r>
            <a:endParaRPr lang="en-US" sz="650" dirty="0"/>
          </a:p>
        </p:txBody>
      </p:sp>
      <p:sp>
        <p:nvSpPr>
          <p:cNvPr id="64" name="Text 61"/>
          <p:cNvSpPr/>
          <p:nvPr/>
        </p:nvSpPr>
        <p:spPr>
          <a:xfrm>
            <a:off x="4714875" y="1776617"/>
            <a:ext cx="24467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11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4959548" y="1776617"/>
            <a:ext cx="1111160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Proxy/VPN/TOR</a:t>
            </a:r>
            <a:endParaRPr lang="en-US" sz="650" dirty="0"/>
          </a:p>
        </p:txBody>
      </p:sp>
      <p:sp>
        <p:nvSpPr>
          <p:cNvPr id="66" name="Text 63"/>
          <p:cNvSpPr/>
          <p:nvPr/>
        </p:nvSpPr>
        <p:spPr>
          <a:xfrm>
            <a:off x="6070709" y="1776617"/>
            <a:ext cx="598122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650" dirty="0"/>
          </a:p>
        </p:txBody>
      </p:sp>
      <p:sp>
        <p:nvSpPr>
          <p:cNvPr id="67" name="Text 64"/>
          <p:cNvSpPr/>
          <p:nvPr/>
        </p:nvSpPr>
        <p:spPr>
          <a:xfrm>
            <a:off x="6668830" y="1776617"/>
            <a:ext cx="145188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Known anonymizer IP detected</a:t>
            </a:r>
            <a:endParaRPr lang="en-US" sz="650" dirty="0"/>
          </a:p>
        </p:txBody>
      </p:sp>
      <p:sp>
        <p:nvSpPr>
          <p:cNvPr id="68" name="Text 65"/>
          <p:cNvSpPr/>
          <p:nvPr/>
        </p:nvSpPr>
        <p:spPr>
          <a:xfrm>
            <a:off x="8120714" y="1776617"/>
            <a:ext cx="594661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69" name="Text 66"/>
          <p:cNvSpPr/>
          <p:nvPr/>
        </p:nvSpPr>
        <p:spPr>
          <a:xfrm>
            <a:off x="4714875" y="2186657"/>
            <a:ext cx="24467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12</a:t>
            </a:r>
            <a:endParaRPr lang="en-US" sz="650" dirty="0"/>
          </a:p>
        </p:txBody>
      </p:sp>
      <p:sp>
        <p:nvSpPr>
          <p:cNvPr id="70" name="Text 67"/>
          <p:cNvSpPr/>
          <p:nvPr/>
        </p:nvSpPr>
        <p:spPr>
          <a:xfrm>
            <a:off x="4959548" y="2186657"/>
            <a:ext cx="1111160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Host Capture Voids</a:t>
            </a:r>
            <a:endParaRPr lang="en-US" sz="650" dirty="0"/>
          </a:p>
        </p:txBody>
      </p:sp>
      <p:sp>
        <p:nvSpPr>
          <p:cNvPr id="71" name="Text 68"/>
          <p:cNvSpPr/>
          <p:nvPr/>
        </p:nvSpPr>
        <p:spPr>
          <a:xfrm>
            <a:off x="6070709" y="2186657"/>
            <a:ext cx="598122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650" dirty="0"/>
          </a:p>
        </p:txBody>
      </p:sp>
      <p:sp>
        <p:nvSpPr>
          <p:cNvPr id="72" name="Text 69"/>
          <p:cNvSpPr/>
          <p:nvPr/>
        </p:nvSpPr>
        <p:spPr>
          <a:xfrm>
            <a:off x="6668830" y="2186657"/>
            <a:ext cx="145188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&gt;5% void rate on host capture</a:t>
            </a:r>
            <a:endParaRPr lang="en-US" sz="650" dirty="0"/>
          </a:p>
        </p:txBody>
      </p:sp>
      <p:sp>
        <p:nvSpPr>
          <p:cNvPr id="73" name="Text 70"/>
          <p:cNvSpPr/>
          <p:nvPr/>
        </p:nvSpPr>
        <p:spPr>
          <a:xfrm>
            <a:off x="8120714" y="2186657"/>
            <a:ext cx="594661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4714875" y="2596697"/>
            <a:ext cx="24467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13</a:t>
            </a:r>
            <a:endParaRPr lang="en-US" sz="650" dirty="0"/>
          </a:p>
        </p:txBody>
      </p:sp>
      <p:sp>
        <p:nvSpPr>
          <p:cNvPr id="75" name="Text 72"/>
          <p:cNvSpPr/>
          <p:nvPr/>
        </p:nvSpPr>
        <p:spPr>
          <a:xfrm>
            <a:off x="4959548" y="2596697"/>
            <a:ext cx="1111160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BIN Concentration</a:t>
            </a:r>
            <a:endParaRPr lang="en-US" sz="650" dirty="0"/>
          </a:p>
        </p:txBody>
      </p:sp>
      <p:sp>
        <p:nvSpPr>
          <p:cNvPr id="76" name="Text 73"/>
          <p:cNvSpPr/>
          <p:nvPr/>
        </p:nvSpPr>
        <p:spPr>
          <a:xfrm>
            <a:off x="6070709" y="2596697"/>
            <a:ext cx="59812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650" dirty="0"/>
          </a:p>
        </p:txBody>
      </p:sp>
      <p:sp>
        <p:nvSpPr>
          <p:cNvPr id="77" name="Text 74"/>
          <p:cNvSpPr/>
          <p:nvPr/>
        </p:nvSpPr>
        <p:spPr>
          <a:xfrm>
            <a:off x="6668830" y="2596697"/>
            <a:ext cx="145188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&gt;40% txns from single BIN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8120714" y="2596697"/>
            <a:ext cx="594661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79" name="Text 76"/>
          <p:cNvSpPr/>
          <p:nvPr/>
        </p:nvSpPr>
        <p:spPr>
          <a:xfrm>
            <a:off x="4714875" y="2876727"/>
            <a:ext cx="24467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14</a:t>
            </a:r>
            <a:endParaRPr lang="en-US" sz="650" dirty="0"/>
          </a:p>
        </p:txBody>
      </p:sp>
      <p:sp>
        <p:nvSpPr>
          <p:cNvPr id="80" name="Text 77"/>
          <p:cNvSpPr/>
          <p:nvPr/>
        </p:nvSpPr>
        <p:spPr>
          <a:xfrm>
            <a:off x="4959548" y="2876727"/>
            <a:ext cx="1111160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Same Billing Address</a:t>
            </a:r>
            <a:endParaRPr lang="en-US" sz="650" dirty="0"/>
          </a:p>
        </p:txBody>
      </p:sp>
      <p:sp>
        <p:nvSpPr>
          <p:cNvPr id="81" name="Text 78"/>
          <p:cNvSpPr/>
          <p:nvPr/>
        </p:nvSpPr>
        <p:spPr>
          <a:xfrm>
            <a:off x="6070709" y="2876727"/>
            <a:ext cx="59812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6668830" y="2876727"/>
            <a:ext cx="145188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&gt;10 cards, same address, 24h</a:t>
            </a:r>
            <a:endParaRPr lang="en-US" sz="650" dirty="0"/>
          </a:p>
        </p:txBody>
      </p:sp>
      <p:sp>
        <p:nvSpPr>
          <p:cNvPr id="83" name="Text 80"/>
          <p:cNvSpPr/>
          <p:nvPr/>
        </p:nvSpPr>
        <p:spPr>
          <a:xfrm>
            <a:off x="8120714" y="2876727"/>
            <a:ext cx="594661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84" name="Text 81"/>
          <p:cNvSpPr/>
          <p:nvPr/>
        </p:nvSpPr>
        <p:spPr>
          <a:xfrm>
            <a:off x="4714875" y="3156756"/>
            <a:ext cx="24467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15</a:t>
            </a:r>
            <a:endParaRPr lang="en-US" sz="650" dirty="0"/>
          </a:p>
        </p:txBody>
      </p:sp>
      <p:sp>
        <p:nvSpPr>
          <p:cNvPr id="85" name="Text 82"/>
          <p:cNvSpPr/>
          <p:nvPr/>
        </p:nvSpPr>
        <p:spPr>
          <a:xfrm>
            <a:off x="4959548" y="3156756"/>
            <a:ext cx="1111160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Geographic Anomaly</a:t>
            </a:r>
            <a:endParaRPr lang="en-US" sz="650" dirty="0"/>
          </a:p>
        </p:txBody>
      </p:sp>
      <p:sp>
        <p:nvSpPr>
          <p:cNvPr id="86" name="Text 83"/>
          <p:cNvSpPr/>
          <p:nvPr/>
        </p:nvSpPr>
        <p:spPr>
          <a:xfrm>
            <a:off x="6070709" y="3156756"/>
            <a:ext cx="598122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3B82F6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Medium</a:t>
            </a:r>
            <a:endParaRPr lang="en-US" sz="650" dirty="0"/>
          </a:p>
        </p:txBody>
      </p:sp>
      <p:sp>
        <p:nvSpPr>
          <p:cNvPr id="87" name="Text 84"/>
          <p:cNvSpPr/>
          <p:nvPr/>
        </p:nvSpPr>
        <p:spPr>
          <a:xfrm>
            <a:off x="6668830" y="3156756"/>
            <a:ext cx="1451883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Card country ≠ merchant country</a:t>
            </a:r>
            <a:endParaRPr lang="en-US" sz="650" dirty="0"/>
          </a:p>
        </p:txBody>
      </p:sp>
      <p:sp>
        <p:nvSpPr>
          <p:cNvPr id="88" name="Text 85"/>
          <p:cNvSpPr/>
          <p:nvPr/>
        </p:nvSpPr>
        <p:spPr>
          <a:xfrm>
            <a:off x="8120714" y="3156756"/>
            <a:ext cx="594661" cy="410040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89" name="Text 86"/>
          <p:cNvSpPr/>
          <p:nvPr/>
        </p:nvSpPr>
        <p:spPr>
          <a:xfrm>
            <a:off x="4714875" y="3566796"/>
            <a:ext cx="24467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</a:t>
            </a:r>
            <a:endParaRPr lang="en-US" sz="650" dirty="0"/>
          </a:p>
        </p:txBody>
      </p:sp>
      <p:sp>
        <p:nvSpPr>
          <p:cNvPr id="90" name="Text 87"/>
          <p:cNvSpPr/>
          <p:nvPr/>
        </p:nvSpPr>
        <p:spPr>
          <a:xfrm>
            <a:off x="4959548" y="3566796"/>
            <a:ext cx="1111160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Force Post Monitor</a:t>
            </a:r>
            <a:endParaRPr lang="en-US" sz="650" dirty="0"/>
          </a:p>
        </p:txBody>
      </p:sp>
      <p:sp>
        <p:nvSpPr>
          <p:cNvPr id="91" name="Text 88"/>
          <p:cNvSpPr/>
          <p:nvPr/>
        </p:nvSpPr>
        <p:spPr>
          <a:xfrm>
            <a:off x="6070709" y="3566796"/>
            <a:ext cx="59812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Critical</a:t>
            </a:r>
            <a:endParaRPr lang="en-US" sz="650" dirty="0"/>
          </a:p>
        </p:txBody>
      </p:sp>
      <p:sp>
        <p:nvSpPr>
          <p:cNvPr id="92" name="Text 89"/>
          <p:cNvSpPr/>
          <p:nvPr/>
        </p:nvSpPr>
        <p:spPr>
          <a:xfrm>
            <a:off x="6668830" y="3566796"/>
            <a:ext cx="145188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Force post &gt;$1,000</a:t>
            </a:r>
            <a:endParaRPr lang="en-US" sz="650" dirty="0"/>
          </a:p>
        </p:txBody>
      </p:sp>
      <p:sp>
        <p:nvSpPr>
          <p:cNvPr id="93" name="Text 90"/>
          <p:cNvSpPr/>
          <p:nvPr/>
        </p:nvSpPr>
        <p:spPr>
          <a:xfrm>
            <a:off x="8120714" y="3566796"/>
            <a:ext cx="594661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  <p:sp>
        <p:nvSpPr>
          <p:cNvPr id="94" name="Text 91"/>
          <p:cNvSpPr/>
          <p:nvPr/>
        </p:nvSpPr>
        <p:spPr>
          <a:xfrm>
            <a:off x="4714875" y="3846826"/>
            <a:ext cx="24467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</a:t>
            </a:r>
            <a:endParaRPr lang="en-US" sz="650" dirty="0"/>
          </a:p>
        </p:txBody>
      </p:sp>
      <p:sp>
        <p:nvSpPr>
          <p:cNvPr id="95" name="Text 92"/>
          <p:cNvSpPr/>
          <p:nvPr/>
        </p:nvSpPr>
        <p:spPr>
          <a:xfrm>
            <a:off x="4959548" y="3846826"/>
            <a:ext cx="1111160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Deposit Spike</a:t>
            </a:r>
            <a:endParaRPr lang="en-US" sz="650" dirty="0"/>
          </a:p>
        </p:txBody>
      </p:sp>
      <p:sp>
        <p:nvSpPr>
          <p:cNvPr id="96" name="Text 93"/>
          <p:cNvSpPr/>
          <p:nvPr/>
        </p:nvSpPr>
        <p:spPr>
          <a:xfrm>
            <a:off x="6070709" y="3846826"/>
            <a:ext cx="598122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F59E0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</a:t>
            </a:r>
            <a:endParaRPr lang="en-US" sz="650" dirty="0"/>
          </a:p>
        </p:txBody>
      </p:sp>
      <p:sp>
        <p:nvSpPr>
          <p:cNvPr id="97" name="Text 94"/>
          <p:cNvSpPr/>
          <p:nvPr/>
        </p:nvSpPr>
        <p:spPr>
          <a:xfrm>
            <a:off x="6668830" y="3846826"/>
            <a:ext cx="1451883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&gt;150% of 30-day trailing avg</a:t>
            </a:r>
            <a:endParaRPr lang="en-US" sz="650" dirty="0"/>
          </a:p>
        </p:txBody>
      </p:sp>
      <p:sp>
        <p:nvSpPr>
          <p:cNvPr id="98" name="Text 95"/>
          <p:cNvSpPr/>
          <p:nvPr/>
        </p:nvSpPr>
        <p:spPr>
          <a:xfrm>
            <a:off x="8120714" y="3846826"/>
            <a:ext cx="594661" cy="28002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Month 3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Six named engineering sprints deliver a fully operational AI risk platform in 12 weeks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28625" y="1380139"/>
            <a:ext cx="1243013" cy="466130"/>
          </a:xfrm>
          <a:prstGeom prst="rect">
            <a:avLst/>
          </a:prstGeom>
          <a:noFill/>
          <a:ln/>
        </p:spPr>
        <p:txBody>
          <a:bodyPr wrap="non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Week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671638" y="1380139"/>
            <a:ext cx="2486025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Sprint Name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157663" y="1380139"/>
            <a:ext cx="4557713" cy="46613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96F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Deliverables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28625" y="1846269"/>
            <a:ext cx="1243013" cy="4893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1–2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671638" y="1846269"/>
            <a:ext cx="2486025" cy="4893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Infrastructure Sprint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57663" y="1846269"/>
            <a:ext cx="4557713" cy="48934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Mreports pipeline · wc3270 service · AI agent design · Data schema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2335616"/>
            <a:ext cx="12430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3–4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671638" y="2335616"/>
            <a:ext cx="2486025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Engine Sprint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57663" y="2335616"/>
            <a:ext cx="45577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Rules engine · OOP Flags 1–4 · Auto hold + notifications · ACH alerts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28625" y="2821391"/>
            <a:ext cx="12430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5–6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671638" y="2821391"/>
            <a:ext cx="2486025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Detection Expansion Sprint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57663" y="2821391"/>
            <a:ext cx="45577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OOP Flags 5–10 · Behavioral baselines · UW alignment · Agent build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28625" y="3307166"/>
            <a:ext cx="12430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7–8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671638" y="3307166"/>
            <a:ext cx="2486025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Integration &amp; QA Sprint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57663" y="3307166"/>
            <a:ext cx="45577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Agent integration testing · ACH SLA · Root cause audit · CB fix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28625" y="3792941"/>
            <a:ext cx="12430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9–10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671638" y="3792941"/>
            <a:ext cx="2486025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&amp; Agent Production Launch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57663" y="3792941"/>
            <a:ext cx="45577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Agent live 5AM · ML scoring · Flags 11–15 · VAMP/ECP module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28625" y="4278716"/>
            <a:ext cx="12430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11–12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671638" y="4278716"/>
            <a:ext cx="2486025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Go-Live Sprint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57663" y="4278716"/>
            <a:ext cx="4557713" cy="485775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ISO portal · Profitability dashboard · Loss reporting · UAT → Go-live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943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Four dependencies must be resolved before or at Week 1 kickoff to keep the 12-week timeline on track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428625" y="1380139"/>
            <a:ext cx="3929063" cy="150010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80139"/>
            <a:ext cx="3929063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1594452"/>
            <a:ext cx="285750" cy="285750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2938" y="159445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1563" y="1594452"/>
            <a:ext cx="307181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TSYS API Access (Longest Lead Time)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71563" y="1905902"/>
            <a:ext cx="3071813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Mreports API credentials and wc3270 mainframe access must be provisioned before Week 1. This is the single item most likely to delay the project if not started immediately.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86313" y="1380139"/>
            <a:ext cx="3929063" cy="147152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786313" y="1380139"/>
            <a:ext cx="3929063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9"/>
          <p:cNvSpPr/>
          <p:nvPr/>
        </p:nvSpPr>
        <p:spPr>
          <a:xfrm>
            <a:off x="5000625" y="1594452"/>
            <a:ext cx="285750" cy="285750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00625" y="159445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29250" y="1594452"/>
            <a:ext cx="307181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ML Training Data Extraction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29250" y="1905902"/>
            <a:ext cx="30718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minimum of 6 months of historical transaction data must be extracted and staged for model training. Data extraction should begin in parallel with project kickoff.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28625" y="3208855"/>
            <a:ext cx="3929063" cy="168296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3208855"/>
            <a:ext cx="3929063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5"/>
          <p:cNvSpPr/>
          <p:nvPr/>
        </p:nvSpPr>
        <p:spPr>
          <a:xfrm>
            <a:off x="642938" y="3423168"/>
            <a:ext cx="285750" cy="285750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2938" y="342316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71563" y="3423168"/>
            <a:ext cx="307181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Code Freeze Enforcement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71563" y="3734619"/>
            <a:ext cx="3071813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All feature development must be complete by end of Week 10. A hard code freeze must be enforced to protect the 2-week UAT window in Weeks 11–12.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786313" y="3208855"/>
            <a:ext cx="3929063" cy="1682967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786313" y="3208855"/>
            <a:ext cx="3929063" cy="285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1"/>
          <p:cNvSpPr/>
          <p:nvPr/>
        </p:nvSpPr>
        <p:spPr>
          <a:xfrm>
            <a:off x="5000625" y="3423168"/>
            <a:ext cx="285750" cy="285750"/>
          </a:xfrm>
          <a:prstGeom prst="rect">
            <a:avLst/>
          </a:prstGeom>
          <a:solidFill>
            <a:srgbClr val="EF4444">
              <a:alpha val="10000"/>
            </a:srgbClr>
          </a:solidFill>
          <a:ln w="9144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00625" y="3423168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29250" y="3423168"/>
            <a:ext cx="3071813" cy="204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Card Brand Threshold Governance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29250" y="3734619"/>
            <a:ext cx="3071813" cy="914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Netevia's internal alert thresholds (set 30–40% below official Visa/Mastercard limits) must not be overridden without Risk Management sign-off. Network reporting lag means breaches can be penalized before they are detected.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8001000" cy="66861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Ready to build — pending CTO approval and TSYS access provisioning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668735"/>
            <a:ext cx="8001000" cy="4750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68735"/>
            <a:ext cx="14288" cy="475059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820540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56" y="1811610"/>
            <a:ext cx="456485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Engineering kickoff can begin immediately upon CTO approval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71500" y="2358107"/>
            <a:ext cx="8001000" cy="4750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2358107"/>
            <a:ext cx="14288" cy="475059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2509912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35856" y="2500982"/>
            <a:ext cx="476488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TSYS API access provisioning should be initiated in parallel today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71500" y="3047479"/>
            <a:ext cx="8001000" cy="4750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571500" y="3047479"/>
            <a:ext cx="14288" cy="475059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3199284"/>
            <a:ext cx="150019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4425" y="3190354"/>
            <a:ext cx="385405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Historical transaction data extraction to begin Week 1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71500" y="3736851"/>
            <a:ext cx="8001000" cy="4750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1"/>
          <p:cNvSpPr/>
          <p:nvPr/>
        </p:nvSpPr>
        <p:spPr>
          <a:xfrm>
            <a:off x="571500" y="3736851"/>
            <a:ext cx="14288" cy="475059"/>
          </a:xfrm>
          <a:prstGeom prst="rect">
            <a:avLst/>
          </a:prstGeom>
          <a:solidFill>
            <a:srgbClr val="33415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3888656"/>
            <a:ext cx="214313" cy="1714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8719" y="3879726"/>
            <a:ext cx="483631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Project lead and Risk liaison to be assigned before kickoff meeting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0" y="4586288"/>
            <a:ext cx="914400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4"/>
          <p:cNvSpPr/>
          <p:nvPr/>
        </p:nvSpPr>
        <p:spPr>
          <a:xfrm>
            <a:off x="0" y="4586288"/>
            <a:ext cx="914400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5"/>
          <p:cNvSpPr/>
          <p:nvPr/>
        </p:nvSpPr>
        <p:spPr>
          <a:xfrm>
            <a:off x="571500" y="4807744"/>
            <a:ext cx="302002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Netevia Group LLC · 2590 Hollywood Blvd, Hollywood, FL 33020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6899077" y="4807744"/>
            <a:ext cx="16734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5A1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Internal — Confidential · Version 4.0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2026-05-01T17:19:14Z</dcterms:created>
  <dcterms:modified xsi:type="dcterms:W3CDTF">2026-05-01T17:19:14Z</dcterms:modified>
</cp:coreProperties>
</file>